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1" r:id="rId22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font" Target="fonts/font21.fntdata"/><Relationship Id="rId22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9.png"/><Relationship Id="rId4" Type="http://schemas.openxmlformats.org/officeDocument/2006/relationships/oleObject" Target="../embeddings/oleObject1.bin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8.png"/><Relationship Id="rId4" Type="http://schemas.openxmlformats.org/officeDocument/2006/relationships/oleObject" Target="../embeddings/oleObject2.bin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9.png"/><Relationship Id="rId4" Type="http://schemas.openxmlformats.org/officeDocument/2006/relationships/oleObject" Target="../embeddings/oleObject3.bin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63600" y="7800975"/>
            <a:ext cx="4724400" cy="2486025"/>
            <a:chOff x="0" y="0"/>
            <a:chExt cx="6299200" cy="3314700"/>
          </a:xfrm>
        </p:grpSpPr>
        <p:sp>
          <p:nvSpPr>
            <p:cNvPr name="Freeform 5" id="5" descr="f"/>
            <p:cNvSpPr/>
            <p:nvPr/>
          </p:nvSpPr>
          <p:spPr>
            <a:xfrm flipH="false" flipV="false" rot="0">
              <a:off x="0" y="0"/>
              <a:ext cx="6299200" cy="3314700"/>
            </a:xfrm>
            <a:custGeom>
              <a:avLst/>
              <a:gdLst/>
              <a:ahLst/>
              <a:cxnLst/>
              <a:rect r="r" b="b" t="t" l="l"/>
              <a:pathLst>
                <a:path h="3314700" w="6299200">
                  <a:moveTo>
                    <a:pt x="0" y="0"/>
                  </a:moveTo>
                  <a:lnTo>
                    <a:pt x="6299200" y="0"/>
                  </a:lnTo>
                  <a:lnTo>
                    <a:pt x="6299200" y="3314700"/>
                  </a:lnTo>
                  <a:lnTo>
                    <a:pt x="0" y="331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333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654675" y="3292678"/>
            <a:ext cx="12978651" cy="185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6"/>
              </a:lnSpc>
            </a:pPr>
            <a:r>
              <a:rPr lang="en-US" b="true" sz="3900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 AN</a:t>
            </a:r>
            <a:r>
              <a:rPr lang="en-US" b="true" sz="3900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 DEVELOPMENT OF A CROSS-PLATFORM APPLICATION FOR TRAVEL PLANNING SUPPORT BASED ON GENERATIVE AI AND PERSONALIZED RECOMMENDER SYSTEMS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99247" y="5434660"/>
            <a:ext cx="1371419" cy="133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799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Student: Class: </a:t>
            </a:r>
          </a:p>
          <a:p>
            <a:pPr algn="l">
              <a:lnSpc>
                <a:spcPts val="3300"/>
              </a:lnSpc>
            </a:pPr>
            <a:r>
              <a:rPr lang="en-US" b="true" sz="2799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4499" y="5377510"/>
            <a:ext cx="4514255" cy="153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Nguyen Van Hoa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22SE1B - Software Engineering</a:t>
            </a:r>
          </a:p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22IT.B080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99247" y="6706248"/>
            <a:ext cx="4379119" cy="548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Supervisor: MSc. Vo Ngoc Dat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2083" y="1318754"/>
            <a:ext cx="4963835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</a:t>
            </a: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NTATION OUTLINE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40407" y="3308985"/>
            <a:ext cx="7007186" cy="353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8" indent="-356234" lvl="1">
              <a:lnSpc>
                <a:spcPts val="4619"/>
              </a:lnSpc>
              <a:buAutoNum type="arabicPeriod" startAt="1"/>
            </a:pPr>
            <a:r>
              <a:rPr lang="en-US" b="true" sz="32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</a:t>
            </a:r>
            <a:r>
              <a:rPr lang="en-US" b="true" sz="32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et Motivation &amp; Strategic </a:t>
            </a:r>
            <a:r>
              <a:rPr lang="en-US" b="true" sz="32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Gaps</a:t>
            </a:r>
          </a:p>
          <a:p>
            <a:pPr algn="l" marL="712468" indent="-356234" lvl="1">
              <a:lnSpc>
                <a:spcPts val="4619"/>
              </a:lnSpc>
              <a:buAutoNum type="arabicPeriod" startAt="1"/>
            </a:pPr>
            <a:r>
              <a:rPr lang="en-US" b="true" sz="32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Model &amp; Monetization</a:t>
            </a:r>
          </a:p>
          <a:p>
            <a:pPr algn="l" marL="712468" indent="-356234" lvl="1">
              <a:lnSpc>
                <a:spcPts val="4619"/>
              </a:lnSpc>
              <a:buAutoNum type="arabicPeriod" startAt="1"/>
            </a:pPr>
            <a:r>
              <a:rPr lang="en-US" b="true" sz="32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Architecture &amp; UML Design</a:t>
            </a:r>
          </a:p>
          <a:p>
            <a:pPr algn="l" marL="712468" indent="-356234" lvl="1">
              <a:lnSpc>
                <a:spcPts val="4619"/>
              </a:lnSpc>
              <a:buAutoNum type="arabicPeriod" startAt="1"/>
            </a:pPr>
            <a:r>
              <a:rPr lang="en-US" b="true" sz="32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AI Engines (Two-Tower &amp; RAG)</a:t>
            </a:r>
          </a:p>
          <a:p>
            <a:pPr algn="l" marL="712468" indent="-356234" lvl="1">
              <a:lnSpc>
                <a:spcPts val="4619"/>
              </a:lnSpc>
              <a:buAutoNum type="arabicPeriod" startAt="1"/>
            </a:pPr>
            <a:r>
              <a:rPr lang="en-US" b="true" sz="32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UAT</a:t>
            </a:r>
            <a:r>
              <a:rPr lang="en-US" b="true" sz="32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Metrics &amp; Lean Validation</a:t>
            </a:r>
          </a:p>
          <a:p>
            <a:pPr algn="l" marL="712468" indent="-356234" lvl="1">
              <a:lnSpc>
                <a:spcPts val="4619"/>
              </a:lnSpc>
              <a:buAutoNum type="arabicPeriod" startAt="1"/>
            </a:pPr>
            <a:r>
              <a:rPr lang="en-US" b="true" sz="32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6-Month Roadmap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882208" y="7233013"/>
            <a:ext cx="1455430" cy="1294010"/>
          </a:xfrm>
          <a:custGeom>
            <a:avLst/>
            <a:gdLst/>
            <a:ahLst/>
            <a:cxnLst/>
            <a:rect r="r" b="b" t="t" l="l"/>
            <a:pathLst>
              <a:path h="1294010" w="1455430">
                <a:moveTo>
                  <a:pt x="0" y="0"/>
                </a:moveTo>
                <a:lnTo>
                  <a:pt x="1455430" y="0"/>
                </a:lnTo>
                <a:lnTo>
                  <a:pt x="1455430" y="1294010"/>
                </a:lnTo>
                <a:lnTo>
                  <a:pt x="0" y="12940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2845893" y="2669131"/>
            <a:ext cx="1528061" cy="1528061"/>
          </a:xfrm>
          <a:custGeom>
            <a:avLst/>
            <a:gdLst/>
            <a:ahLst/>
            <a:cxnLst/>
            <a:rect r="r" b="b" t="t" l="l"/>
            <a:pathLst>
              <a:path h="1528061" w="1528061">
                <a:moveTo>
                  <a:pt x="0" y="0"/>
                </a:moveTo>
                <a:lnTo>
                  <a:pt x="1528060" y="0"/>
                </a:lnTo>
                <a:lnTo>
                  <a:pt x="1528060" y="1528061"/>
                </a:lnTo>
                <a:lnTo>
                  <a:pt x="0" y="15280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2845893" y="5263114"/>
            <a:ext cx="1416586" cy="1241284"/>
          </a:xfrm>
          <a:custGeom>
            <a:avLst/>
            <a:gdLst/>
            <a:ahLst/>
            <a:cxnLst/>
            <a:rect r="r" b="b" t="t" l="l"/>
            <a:pathLst>
              <a:path h="1241284" w="1416586">
                <a:moveTo>
                  <a:pt x="0" y="0"/>
                </a:moveTo>
                <a:lnTo>
                  <a:pt x="1416586" y="0"/>
                </a:lnTo>
                <a:lnTo>
                  <a:pt x="1416586" y="1241284"/>
                </a:lnTo>
                <a:lnTo>
                  <a:pt x="0" y="12412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5240476" y="1318754"/>
            <a:ext cx="7807047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MOT</a:t>
            </a: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IVATION &amp; 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28388" y="7804631"/>
            <a:ext cx="9054202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B2B Ads Gap: Local merchants lack targeted digital channels.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28388" y="3319619"/>
            <a:ext cx="6979444" cy="548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Information Overload: 30+ hours planning/trip.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28388" y="5601181"/>
            <a:ext cx="8448318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Fragmented Tools: Disjointed coordination (Chat, Sheets, Maps).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18690" y="8507758"/>
            <a:ext cx="1582465" cy="43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6"/>
              </a:lnSpc>
              <a:spcBef>
                <a:spcPct val="0"/>
              </a:spcBef>
            </a:pPr>
            <a:r>
              <a:rPr lang="en-US" b="true" sz="223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38 Websites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64410" y="4185584"/>
            <a:ext cx="1491026" cy="450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  <a:spcBef>
                <a:spcPct val="0"/>
              </a:spcBef>
            </a:pPr>
            <a:r>
              <a:rPr lang="en-US" b="true" sz="234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10-30 Hours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Object 4" id="4"/>
          <p:cNvGraphicFramePr/>
          <p:nvPr/>
        </p:nvGraphicFramePr>
        <p:xfrm>
          <a:off x="10095276" y="2466675"/>
          <a:ext cx="6381877" cy="8229600"/>
        </p:xfrm>
        <a:graphic>
          <a:graphicData uri="http://schemas.openxmlformats.org/presentationml/2006/ole">
            <p:oleObj imgW="8026400" imgH="9867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6103144" y="1318754"/>
            <a:ext cx="6081712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STRATEGIC MARKET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03700"/>
            <a:ext cx="8069104" cy="178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ESTEL: Strong government support for digital smart tourism.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Competitor Gap: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OTAs (Klook, Traveloka): Booking transactions only.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Trekko: Captures users early at the planning stage.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028738" y="4289650"/>
            <a:ext cx="12230523" cy="4968650"/>
          </a:xfrm>
          <a:custGeom>
            <a:avLst/>
            <a:gdLst/>
            <a:ahLst/>
            <a:cxnLst/>
            <a:rect r="r" b="b" t="t" l="l"/>
            <a:pathLst>
              <a:path h="4968650" w="12230523">
                <a:moveTo>
                  <a:pt x="0" y="0"/>
                </a:moveTo>
                <a:lnTo>
                  <a:pt x="12230524" y="0"/>
                </a:lnTo>
                <a:lnTo>
                  <a:pt x="12230524" y="4968650"/>
                </a:lnTo>
                <a:lnTo>
                  <a:pt x="0" y="496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6033373" y="1318754"/>
            <a:ext cx="6221254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BUSINESS MODEL CANVAS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88009" y="2742614"/>
            <a:ext cx="9214961" cy="134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Value Prop</a:t>
            </a: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osition: AI-driven itinerary &amp; real-time group collaboration.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Segment: Tech-savvy Gen Z &amp; local tourism merchants.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Channels: App Stores, Travel KOLs.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620157" y="2826551"/>
            <a:ext cx="7639143" cy="5297580"/>
          </a:xfrm>
          <a:custGeom>
            <a:avLst/>
            <a:gdLst/>
            <a:ahLst/>
            <a:cxnLst/>
            <a:rect r="r" b="b" t="t" l="l"/>
            <a:pathLst>
              <a:path h="5297580" w="7639143">
                <a:moveTo>
                  <a:pt x="0" y="0"/>
                </a:moveTo>
                <a:lnTo>
                  <a:pt x="7639143" y="0"/>
                </a:lnTo>
                <a:lnTo>
                  <a:pt x="7639143" y="5297579"/>
                </a:lnTo>
                <a:lnTo>
                  <a:pt x="0" y="5297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6015930" y="1318754"/>
            <a:ext cx="6256139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MONETIZAT</a:t>
            </a: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ION &amp; SCALABILITY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4857" y="4145768"/>
            <a:ext cx="81153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Affi</a:t>
            </a: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liate Fees: 5%–8% commission from hotel/ticket partners.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1984" y="5033262"/>
            <a:ext cx="6886575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B2B PPC Bidding: Pay-Per-Click ads for local vendors.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1984" y="6017513"/>
            <a:ext cx="7629351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Freemium Model: Premium plans for offline export &amp; advanced budgeting.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130623" y="4409051"/>
            <a:ext cx="14026753" cy="4849249"/>
          </a:xfrm>
          <a:custGeom>
            <a:avLst/>
            <a:gdLst/>
            <a:ahLst/>
            <a:cxnLst/>
            <a:rect r="r" b="b" t="t" l="l"/>
            <a:pathLst>
              <a:path h="4849249" w="14026753">
                <a:moveTo>
                  <a:pt x="0" y="0"/>
                </a:moveTo>
                <a:lnTo>
                  <a:pt x="14026754" y="0"/>
                </a:lnTo>
                <a:lnTo>
                  <a:pt x="14026754" y="4849249"/>
                </a:lnTo>
                <a:lnTo>
                  <a:pt x="0" y="484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6766203" y="1318754"/>
            <a:ext cx="4755594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</a:t>
            </a: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30623" y="2741450"/>
            <a:ext cx="8087439" cy="134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Frontend: Flutter (iOS, Android, Web Admin).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Database: Cloud Firestore NoSQL (WebSocket real-time sync).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Backend: Python FastAPI (AI coordination).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050155" y="2252803"/>
            <a:ext cx="7209145" cy="7005497"/>
          </a:xfrm>
          <a:custGeom>
            <a:avLst/>
            <a:gdLst/>
            <a:ahLst/>
            <a:cxnLst/>
            <a:rect r="r" b="b" t="t" l="l"/>
            <a:pathLst>
              <a:path h="7005497" w="7209145">
                <a:moveTo>
                  <a:pt x="0" y="0"/>
                </a:moveTo>
                <a:lnTo>
                  <a:pt x="7209145" y="0"/>
                </a:lnTo>
                <a:lnTo>
                  <a:pt x="7209145" y="7005497"/>
                </a:lnTo>
                <a:lnTo>
                  <a:pt x="0" y="700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5645765" y="1318754"/>
            <a:ext cx="6996470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DATABASE</a:t>
            </a: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&amp; UML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03084"/>
            <a:ext cx="8295215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Database:</a:t>
            </a: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Nested collections (activities, messages under trips).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673600"/>
            <a:ext cx="7002416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Actors: Traveler (Mobile) &amp; System Admin (Web).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045997" y="2442763"/>
            <a:ext cx="7213303" cy="6804549"/>
          </a:xfrm>
          <a:custGeom>
            <a:avLst/>
            <a:gdLst/>
            <a:ahLst/>
            <a:cxnLst/>
            <a:rect r="r" b="b" t="t" l="l"/>
            <a:pathLst>
              <a:path h="6804549" w="7213303">
                <a:moveTo>
                  <a:pt x="0" y="0"/>
                </a:moveTo>
                <a:lnTo>
                  <a:pt x="7213303" y="0"/>
                </a:lnTo>
                <a:lnTo>
                  <a:pt x="7213303" y="6804549"/>
                </a:lnTo>
                <a:lnTo>
                  <a:pt x="0" y="6804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3372468" y="3174934"/>
            <a:ext cx="5703636" cy="551118"/>
          </a:xfrm>
          <a:custGeom>
            <a:avLst/>
            <a:gdLst/>
            <a:ahLst/>
            <a:cxnLst/>
            <a:rect r="r" b="b" t="t" l="l"/>
            <a:pathLst>
              <a:path h="551118" w="5703636">
                <a:moveTo>
                  <a:pt x="0" y="0"/>
                </a:moveTo>
                <a:lnTo>
                  <a:pt x="5703635" y="0"/>
                </a:lnTo>
                <a:lnTo>
                  <a:pt x="5703635" y="551118"/>
                </a:lnTo>
                <a:lnTo>
                  <a:pt x="0" y="5511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3372468" y="4569329"/>
            <a:ext cx="5703636" cy="495590"/>
          </a:xfrm>
          <a:custGeom>
            <a:avLst/>
            <a:gdLst/>
            <a:ahLst/>
            <a:cxnLst/>
            <a:rect r="r" b="b" t="t" l="l"/>
            <a:pathLst>
              <a:path h="495590" w="5703636">
                <a:moveTo>
                  <a:pt x="0" y="0"/>
                </a:moveTo>
                <a:lnTo>
                  <a:pt x="5703635" y="0"/>
                </a:lnTo>
                <a:lnTo>
                  <a:pt x="5703635" y="495590"/>
                </a:lnTo>
                <a:lnTo>
                  <a:pt x="0" y="4955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6419969" y="1318754"/>
            <a:ext cx="5448062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PERSONALIZ</a:t>
            </a: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ATION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0009" y="2705034"/>
            <a:ext cx="1572459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Tower: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0009" y="6687345"/>
            <a:ext cx="551557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Cold Start: Onboarding preference survey.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00009" y="5350669"/>
            <a:ext cx="555760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Ranking: Cosine Similarity matching score.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00009" y="4009644"/>
            <a:ext cx="1646515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sz="2500" b="1">
                <a:solidFill>
                  <a:srgbClr val="1F222E"/>
                </a:solidFill>
                <a:latin typeface="Calibri"/>
              </a:rPr>
              <a:t>Item Tower: Vectorizes destination features (Category, coordinate, rating, tags).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876357" y="4036720"/>
            <a:ext cx="10535285" cy="5491518"/>
          </a:xfrm>
          <a:custGeom>
            <a:avLst/>
            <a:gdLst/>
            <a:ahLst/>
            <a:cxnLst/>
            <a:rect r="r" b="b" t="t" l="l"/>
            <a:pathLst>
              <a:path h="5491518" w="10535285">
                <a:moveTo>
                  <a:pt x="0" y="0"/>
                </a:moveTo>
                <a:lnTo>
                  <a:pt x="10535286" y="0"/>
                </a:lnTo>
                <a:lnTo>
                  <a:pt x="10535286" y="5491517"/>
                </a:lnTo>
                <a:lnTo>
                  <a:pt x="0" y="5491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5824835" y="1318754"/>
            <a:ext cx="6638330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PLANNING ENGINE (RAG)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12483"/>
            <a:ext cx="8619530" cy="134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Retrieve: Fetch verified l</a:t>
            </a: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ocal destinations from Firestore.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Augment: Inject verified places and weather into prompt context.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Generate: Groq LPU runs Llama-3.3 in under 2 seconds.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Object 4" id="4"/>
          <p:cNvGraphicFramePr/>
          <p:nvPr/>
        </p:nvGraphicFramePr>
        <p:xfrm>
          <a:off x="3909242" y="5141842"/>
          <a:ext cx="9429750" cy="2767917"/>
        </p:xfrm>
        <a:graphic>
          <a:graphicData uri="http://schemas.openxmlformats.org/presentationml/2006/ole">
            <p:oleObj imgW="11315700" imgH="4648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6419969" y="1318754"/>
            <a:ext cx="5448062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ECHNICAL PERFORMANCE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58368" y="3048699"/>
            <a:ext cx="8337471" cy="134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Generation Speed: 3-D</a:t>
            </a: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ay Plan in 1.72s (Groq LPU optimized).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WebSocket Sync Latency: 210ms (Wi-Fi) | 380ms (4G LTE).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Concurrency Control: LWW &amp; OCC database conflict rules.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Object 4" id="4"/>
          <p:cNvGraphicFramePr/>
          <p:nvPr/>
        </p:nvGraphicFramePr>
        <p:xfrm>
          <a:off x="9788338" y="2872076"/>
          <a:ext cx="5657850" cy="4675584"/>
        </p:xfrm>
        <a:graphic>
          <a:graphicData uri="http://schemas.openxmlformats.org/presentationml/2006/ole">
            <p:oleObj imgW="6781800" imgH="5803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6543794" y="1318754"/>
            <a:ext cx="5200412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</a:t>
            </a: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 EVALUATION &amp; UAT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42132" y="4422775"/>
            <a:ext cx="7047905" cy="134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  <a:spcAft>
                <a:spcPts val="1200"/>
              </a:spcAft>
            </a:pPr>
            <a:r>
              <a:rPr sz="2000" b="0">
                <a:latin typeface="Calibri"/>
              </a:rPr>
              <a:t>Cohort Size: N = 10 active travelers.</a:t>
            </a:r>
          </a:p>
          <a:p>
            <a:pPr>
              <a:spcAft>
                <a:spcPts val="1200"/>
              </a:spcAft>
            </a:pPr>
            <a:r>
              <a:rPr sz="2499" b="1">
                <a:solidFill>
                  <a:srgbClr val="1F222E"/>
                </a:solidFill>
                <a:latin typeface="Calibri (MS) Bold"/>
              </a:rPr>
              <a:t>Time-saving: Saves 98.75% of trip planning time (145 mins to 1.8 mins).</a:t>
            </a:r>
          </a:p>
          <a:p>
            <a:r>
              <a:rPr sz="2499" b="1">
                <a:solidFill>
                  <a:srgbClr val="1F222E"/>
                </a:solidFill>
                <a:latin typeface="Calibri (MS) Bold"/>
              </a:rPr>
              <a:t>Usability (SUS Score): 86.5 / 100 (Grade A - Excellent).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301964" y="5143500"/>
            <a:ext cx="11684073" cy="3962586"/>
          </a:xfrm>
          <a:custGeom>
            <a:avLst/>
            <a:gdLst/>
            <a:ahLst/>
            <a:cxnLst/>
            <a:rect r="r" b="b" t="t" l="l"/>
            <a:pathLst>
              <a:path h="3962586" w="11684073">
                <a:moveTo>
                  <a:pt x="0" y="0"/>
                </a:moveTo>
                <a:lnTo>
                  <a:pt x="11684072" y="0"/>
                </a:lnTo>
                <a:lnTo>
                  <a:pt x="11684072" y="3962586"/>
                </a:lnTo>
                <a:lnTo>
                  <a:pt x="0" y="3962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6329601" y="1318754"/>
            <a:ext cx="5628799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</a:t>
            </a:r>
            <a:r>
              <a:rPr lang="en-US" b="true" sz="3800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EAN STARTUP VALIDATION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58757" y="3256229"/>
            <a:ext cx="8741688" cy="134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Build: </a:t>
            </a: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AI planning and real-time chat modules.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Measure: Logged latency and chat memory constraints.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Learn: Implemented history context window truncation in FastAPI.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6-MONTH ROADMAP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Phase 1: MVP Optimization &amp; Closed Beta (Month 1)</a:t>
            </a:r>
          </a:p>
          <a:p>
            <a:pPr lvl="1">
              <a:defRPr sz="1300" b="0"/>
            </a:pPr>
            <a:r>
              <a:t>Refine cross-platform Flutter code and deploy VPS security updates.</a:t>
            </a:r>
          </a:p>
          <a:p>
            <a:pPr lvl="1">
              <a:defRPr sz="1300" b="0"/>
            </a:pPr>
            <a:r>
              <a:t>Run closed beta test with 50 local users to measure sync latency.</a:t>
            </a:r>
          </a:p>
          <a:p>
            <a:pPr>
              <a:defRPr sz="1600" b="1"/>
            </a:pPr>
            <a:r>
              <a:t>Phase 2: Public Launch &amp; Model Tuning (Month 2)</a:t>
            </a:r>
          </a:p>
          <a:p>
            <a:pPr lvl="1">
              <a:defRPr sz="1300" b="0"/>
            </a:pPr>
            <a:r>
              <a:t>Launch publicly on iOS/Android stores; log user interactions.</a:t>
            </a:r>
          </a:p>
          <a:p>
            <a:pPr lvl="1">
              <a:defRPr sz="1300" b="0"/>
            </a:pPr>
            <a:r>
              <a:t>Optimize Two-Tower neural network weights using real interaction logs.</a:t>
            </a:r>
          </a:p>
          <a:p>
            <a:pPr>
              <a:defRPr sz="1600" b="1"/>
            </a:pPr>
            <a:r>
              <a:t>Phase 3: B2B Integration &amp; Monetization (Months 3–4)</a:t>
            </a:r>
          </a:p>
          <a:p>
            <a:pPr lvl="1">
              <a:defRPr sz="1300" b="0"/>
            </a:pPr>
            <a:r>
              <a:t>Release local merchant dashboard for PPC (Pay-Per-Click) ad bidding.</a:t>
            </a:r>
          </a:p>
          <a:p>
            <a:pPr lvl="1">
              <a:defRPr sz="1300" b="0"/>
            </a:pPr>
            <a:r>
              <a:t>Activate OTA affiliate booking APIs.</a:t>
            </a:r>
          </a:p>
          <a:p>
            <a:pPr>
              <a:defRPr sz="1600" b="1"/>
            </a:pPr>
            <a:r>
              <a:t>Phase 4: Scaling &amp; Open-Source LLMs (Months 5–6)</a:t>
            </a:r>
          </a:p>
          <a:p>
            <a:pPr lvl="1">
              <a:defRPr sz="1300" b="0"/>
            </a:pPr>
            <a:r>
              <a:t>Expand destination database to secondary tourism cities.</a:t>
            </a:r>
          </a:p>
          <a:p>
            <a:pPr lvl="1">
              <a:defRPr sz="1300" b="0"/>
            </a:pPr>
            <a:r>
              <a:t>Migrate to self-hosted open-source LLMs (Llama-3-8B) to cut API costs.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45949" y="4080939"/>
            <a:ext cx="8767820" cy="194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58"/>
              </a:lnSpc>
            </a:pPr>
            <a:r>
              <a:rPr lang="en-US" b="true" sz="10398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DEMO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834377" y="4080939"/>
            <a:ext cx="6751320" cy="194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58"/>
              </a:lnSpc>
            </a:pPr>
            <a:r>
              <a:rPr lang="en-US" b="true" sz="10398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92436" y="6196251"/>
            <a:ext cx="146418" cy="93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24811" y="6196251"/>
            <a:ext cx="3710750" cy="93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Q&amp;A</a:t>
            </a:r>
            <a:r>
              <a:rPr lang="en-US" b="true" sz="4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4999">
                <a:solidFill>
                  <a:srgbClr val="1F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DAHLOOlU_98</dc:identifier>
  <dcterms:modified xsi:type="dcterms:W3CDTF">2011-08-01T06:04:30Z</dcterms:modified>
  <cp:revision>1</cp:revision>
  <dc:title>DATN</dc:title>
</cp:coreProperties>
</file>